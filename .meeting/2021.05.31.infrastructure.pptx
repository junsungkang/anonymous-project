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60" r:id="rId3"/>
    <p:sldId id="261" r:id="rId4"/>
    <p:sldId id="284" r:id="rId5"/>
    <p:sldId id="281" r:id="rId6"/>
    <p:sldId id="282" r:id="rId7"/>
    <p:sldId id="259" r:id="rId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71C21-3757-4199-83DE-22960358A2A5}" type="datetimeFigureOut">
              <a:rPr lang="ko-KR" altLang="en-US" smtClean="0"/>
              <a:pPr/>
              <a:t>2021-05-31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A4E647-5A0F-41E6-A0EF-B58D8C1C6C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65231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5207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078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2021-05-31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2021-05-31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2021-05-31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2021-05-31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2021-05-31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2021-05-31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2021-05-31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2021-05-31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2021-05-31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2021-05-31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2021-05-31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FE722-38C7-4231-8BB5-7A27D4E5977D}" type="datetimeFigureOut">
              <a:rPr lang="ko-KR" altLang="en-US" smtClean="0"/>
              <a:pPr/>
              <a:t>2021-05-31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35696" y="2708920"/>
            <a:ext cx="5472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b="1" spc="-150" dirty="0">
                <a:solidFill>
                  <a:schemeClr val="bg1"/>
                </a:solidFill>
              </a:rPr>
              <a:t>Infrastructure</a:t>
            </a:r>
            <a:endParaRPr lang="ko-KR" altLang="en-US" sz="4400" b="1" spc="-15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83768" y="2276872"/>
            <a:ext cx="425647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dist"/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</a:rPr>
              <a:t>우리들의 어플리케이션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15816" y="5922421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solidFill>
                  <a:schemeClr val="bg1"/>
                </a:solidFill>
              </a:rPr>
              <a:t>우리 로고는 뭔가요</a:t>
            </a:r>
            <a:r>
              <a:rPr lang="en-US" altLang="ko-KR" b="1" dirty="0">
                <a:solidFill>
                  <a:schemeClr val="bg1"/>
                </a:solidFill>
              </a:rPr>
              <a:t>?</a:t>
            </a:r>
            <a:endParaRPr lang="ko-KR" altLang="en-US" sz="10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>
          <a:xfrm>
            <a:off x="2695299" y="3284984"/>
            <a:ext cx="1368152" cy="194421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/>
          </a:p>
        </p:txBody>
      </p:sp>
      <p:sp>
        <p:nvSpPr>
          <p:cNvPr id="7" name="TextBox 6"/>
          <p:cNvSpPr txBox="1"/>
          <p:nvPr/>
        </p:nvSpPr>
        <p:spPr>
          <a:xfrm>
            <a:off x="323528" y="548680"/>
            <a:ext cx="4176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</a:rPr>
              <a:t>CONTENTS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60059" y="1772816"/>
            <a:ext cx="4144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        </a:t>
            </a:r>
            <a:r>
              <a:rPr lang="en-US" altLang="ko-KR" sz="5400" dirty="0">
                <a:solidFill>
                  <a:schemeClr val="accent1">
                    <a:lumMod val="60000"/>
                    <a:lumOff val="40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02</a:t>
            </a:r>
            <a:endParaRPr lang="ko-KR" altLang="en-US" sz="5400" dirty="0">
              <a:solidFill>
                <a:schemeClr val="accent1">
                  <a:lumMod val="60000"/>
                  <a:lumOff val="40000"/>
                </a:schemeClr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2804075" y="2708920"/>
            <a:ext cx="11521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5400091" y="2708920"/>
            <a:ext cx="115212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692876" y="284364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spc="-150" dirty="0">
                <a:solidFill>
                  <a:schemeClr val="bg1"/>
                </a:solidFill>
                <a:latin typeface="+mj-ea"/>
                <a:ea typeface="+mj-ea"/>
              </a:rPr>
              <a:t>IaaS</a:t>
            </a:r>
            <a:endParaRPr lang="ko-KR" altLang="en-US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95299" y="3429000"/>
            <a:ext cx="13681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b="1" spc="-150" dirty="0"/>
              <a:t>뭐가 있을까</a:t>
            </a:r>
            <a:r>
              <a:rPr lang="en-US" altLang="ko-KR" sz="1200" b="1" spc="-150" dirty="0"/>
              <a:t>?</a:t>
            </a:r>
          </a:p>
          <a:p>
            <a:pPr marL="171450" indent="-171450">
              <a:buFontTx/>
              <a:buChar char="-"/>
            </a:pPr>
            <a:endParaRPr lang="en-US" altLang="ko-KR" sz="1200" b="1" spc="-150" dirty="0"/>
          </a:p>
          <a:p>
            <a:pPr marL="171450" indent="-171450">
              <a:buFontTx/>
              <a:buChar char="-"/>
            </a:pPr>
            <a:r>
              <a:rPr lang="ko-KR" altLang="en-US" sz="1200" b="1" spc="-150" dirty="0"/>
              <a:t>특징이 뭘까</a:t>
            </a:r>
            <a:r>
              <a:rPr lang="en-US" altLang="ko-KR" sz="1200" b="1" spc="-150" dirty="0"/>
              <a:t>?</a:t>
            </a:r>
          </a:p>
          <a:p>
            <a:pPr marL="171450" indent="-171450">
              <a:buFontTx/>
              <a:buChar char="-"/>
            </a:pPr>
            <a:endParaRPr lang="en-US" altLang="ko-KR" sz="1200" b="1" spc="-150" dirty="0"/>
          </a:p>
          <a:p>
            <a:pPr marL="171450" indent="-171450">
              <a:buFontTx/>
              <a:buChar char="-"/>
            </a:pPr>
            <a:r>
              <a:rPr lang="ko-KR" altLang="en-US" sz="1200" b="1" spc="-150" dirty="0"/>
              <a:t>비용은 얼마일까</a:t>
            </a:r>
            <a:r>
              <a:rPr lang="en-US" altLang="ko-KR" sz="1200" b="1" spc="-150" dirty="0"/>
              <a:t>?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5292080" y="3284984"/>
            <a:ext cx="1368152" cy="1944216"/>
          </a:xfrm>
          <a:prstGeom prst="rect">
            <a:avLst/>
          </a:prstGeom>
          <a:solidFill>
            <a:schemeClr val="accent1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292080" y="3429000"/>
            <a:ext cx="1368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b="1" spc="-150" dirty="0"/>
              <a:t>뭐가 있을까</a:t>
            </a:r>
            <a:r>
              <a:rPr lang="en-US" altLang="ko-KR" sz="1200" b="1" spc="-150" dirty="0"/>
              <a:t>?</a:t>
            </a:r>
          </a:p>
          <a:p>
            <a:pPr marL="171450" indent="-171450">
              <a:buFontTx/>
              <a:buChar char="-"/>
            </a:pPr>
            <a:endParaRPr lang="en-US" altLang="ko-KR" sz="1200" b="1" spc="-150" dirty="0"/>
          </a:p>
          <a:p>
            <a:pPr marL="171450" indent="-171450">
              <a:buFontTx/>
              <a:buChar char="-"/>
            </a:pPr>
            <a:r>
              <a:rPr lang="ko-KR" altLang="en-US" sz="1200" b="1" spc="-150" dirty="0"/>
              <a:t>특징이 뭘까</a:t>
            </a:r>
            <a:r>
              <a:rPr lang="en-US" altLang="ko-KR" sz="1200" b="1" spc="-150" dirty="0"/>
              <a:t>?</a:t>
            </a:r>
            <a:endParaRPr lang="ko-KR" altLang="en-US" sz="1200" b="1" spc="-150" dirty="0"/>
          </a:p>
        </p:txBody>
      </p:sp>
      <p:sp>
        <p:nvSpPr>
          <p:cNvPr id="28" name="TextBox 27"/>
          <p:cNvSpPr txBox="1"/>
          <p:nvPr/>
        </p:nvSpPr>
        <p:spPr>
          <a:xfrm>
            <a:off x="5148064" y="2843644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</a:rPr>
              <a:t>데이터베이스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51520" y="620688"/>
            <a:ext cx="8640960" cy="5976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971600" y="2942942"/>
            <a:ext cx="7200800" cy="14941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971600" y="1196752"/>
            <a:ext cx="7200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bg1">
                    <a:lumMod val="7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“           ”</a:t>
            </a:r>
            <a:endParaRPr lang="ko-KR" altLang="en-US" sz="6000" dirty="0">
              <a:solidFill>
                <a:schemeClr val="bg1">
                  <a:lumMod val="75000"/>
                </a:schemeClr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31640" y="3449960"/>
            <a:ext cx="6624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/>
              <a:t>IAAS ?</a:t>
            </a:r>
            <a:r>
              <a:rPr lang="en-US" altLang="ko-KR" dirty="0"/>
              <a:t> or </a:t>
            </a:r>
            <a:r>
              <a:rPr lang="en-US" altLang="ko-KR" sz="2400" b="1" dirty="0" err="1"/>
              <a:t>ServerRack</a:t>
            </a:r>
            <a:r>
              <a:rPr lang="en-US" altLang="ko-KR" sz="2400" b="1" dirty="0"/>
              <a:t>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600" y="2062589"/>
            <a:ext cx="712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spc="-150" dirty="0"/>
              <a:t>뭐가 있을까</a:t>
            </a:r>
            <a:r>
              <a:rPr lang="en-US" altLang="ko-KR" b="1" spc="-150" dirty="0"/>
              <a:t>?</a:t>
            </a:r>
            <a:endParaRPr lang="ko-KR" altLang="en-US" spc="-150" dirty="0"/>
          </a:p>
        </p:txBody>
      </p:sp>
      <p:sp>
        <p:nvSpPr>
          <p:cNvPr id="12" name="TextBox 11"/>
          <p:cNvSpPr txBox="1"/>
          <p:nvPr/>
        </p:nvSpPr>
        <p:spPr>
          <a:xfrm>
            <a:off x="2411760" y="1268760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spc="-150" dirty="0">
                <a:solidFill>
                  <a:schemeClr val="tx2">
                    <a:lumMod val="75000"/>
                  </a:schemeClr>
                </a:solidFill>
                <a:latin typeface="+mj-lt"/>
                <a:ea typeface="HY헤드라인M" pitchFamily="18" charset="-127"/>
              </a:rPr>
              <a:t>IaaS</a:t>
            </a:r>
            <a:endParaRPr lang="ko-KR" altLang="en-US" sz="3200" b="1" spc="-150" dirty="0">
              <a:solidFill>
                <a:schemeClr val="tx2">
                  <a:lumMod val="75000"/>
                </a:schemeClr>
              </a:solidFill>
              <a:latin typeface="+mj-lt"/>
              <a:ea typeface="HY헤드라인M" pitchFamily="18" charset="-127"/>
            </a:endParaRPr>
          </a:p>
        </p:txBody>
      </p:sp>
      <p:cxnSp>
        <p:nvCxnSpPr>
          <p:cNvPr id="14" name="직선 연결선 13"/>
          <p:cNvCxnSpPr/>
          <p:nvPr/>
        </p:nvCxnSpPr>
        <p:spPr>
          <a:xfrm>
            <a:off x="2123728" y="1916832"/>
            <a:ext cx="4824536" cy="0"/>
          </a:xfrm>
          <a:prstGeom prst="line">
            <a:avLst/>
          </a:prstGeom>
          <a:ln>
            <a:gradFill>
              <a:gsLst>
                <a:gs pos="0">
                  <a:schemeClr val="bg1"/>
                </a:gs>
                <a:gs pos="5000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10800000" scaled="0"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8" name="_x4854912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85530" y="4770552"/>
            <a:ext cx="1440160" cy="756084"/>
          </a:xfrm>
          <a:prstGeom prst="rect">
            <a:avLst/>
          </a:prstGeom>
          <a:noFill/>
        </p:spPr>
      </p:pic>
      <p:pic>
        <p:nvPicPr>
          <p:cNvPr id="19" name="_x4854912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992461" y="4630894"/>
            <a:ext cx="1434986" cy="886338"/>
          </a:xfrm>
          <a:prstGeom prst="rect">
            <a:avLst/>
          </a:prstGeom>
          <a:noFill/>
        </p:spPr>
      </p:pic>
      <p:pic>
        <p:nvPicPr>
          <p:cNvPr id="20" name="_x18990354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16553" y="4843105"/>
            <a:ext cx="1440160" cy="610977"/>
          </a:xfrm>
          <a:prstGeom prst="rect">
            <a:avLst/>
          </a:prstGeom>
          <a:noFill/>
        </p:spPr>
      </p:pic>
      <p:pic>
        <p:nvPicPr>
          <p:cNvPr id="24" name="_x48549128">
            <a:extLst>
              <a:ext uri="{FF2B5EF4-FFF2-40B4-BE49-F238E27FC236}">
                <a16:creationId xmlns:a16="http://schemas.microsoft.com/office/drawing/2014/main" id="{40973FBC-9944-4084-97B5-F14FE1B98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854507" y="4707184"/>
            <a:ext cx="1434986" cy="819452"/>
          </a:xfrm>
          <a:prstGeom prst="rect">
            <a:avLst/>
          </a:prstGeom>
          <a:noFill/>
        </p:spPr>
      </p:pic>
      <p:pic>
        <p:nvPicPr>
          <p:cNvPr id="25" name="_x48549128">
            <a:extLst>
              <a:ext uri="{FF2B5EF4-FFF2-40B4-BE49-F238E27FC236}">
                <a16:creationId xmlns:a16="http://schemas.microsoft.com/office/drawing/2014/main" id="{88FDB52F-5C36-4F7B-B84F-4251550A3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423484" y="4675913"/>
            <a:ext cx="1434986" cy="80702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51520" y="609655"/>
            <a:ext cx="8640960" cy="5976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7434" y="916459"/>
            <a:ext cx="16242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spc="-150" dirty="0">
                <a:solidFill>
                  <a:schemeClr val="tx2">
                    <a:lumMod val="75000"/>
                  </a:schemeClr>
                </a:solidFill>
                <a:latin typeface="+mj-ea"/>
              </a:rPr>
              <a:t>서버별 비교</a:t>
            </a:r>
            <a:endParaRPr lang="ko-KR" altLang="en-US" sz="2400" dirty="0">
              <a:solidFill>
                <a:schemeClr val="tx2">
                  <a:lumMod val="75000"/>
                </a:schemeClr>
              </a:solidFill>
            </a:endParaRP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570539"/>
              </p:ext>
            </p:extLst>
          </p:nvPr>
        </p:nvGraphicFramePr>
        <p:xfrm>
          <a:off x="467544" y="1692378"/>
          <a:ext cx="8208912" cy="434640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889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97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5736">
                  <a:extLst>
                    <a:ext uri="{9D8B030D-6E8A-4147-A177-3AD203B41FA5}">
                      <a16:colId xmlns:a16="http://schemas.microsoft.com/office/drawing/2014/main" val="2140948107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877547703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749819487"/>
                    </a:ext>
                  </a:extLst>
                </a:gridCol>
                <a:gridCol w="1548172">
                  <a:extLst>
                    <a:ext uri="{9D8B030D-6E8A-4147-A177-3AD203B41FA5}">
                      <a16:colId xmlns:a16="http://schemas.microsoft.com/office/drawing/2014/main" val="2410485233"/>
                    </a:ext>
                  </a:extLst>
                </a:gridCol>
              </a:tblGrid>
              <a:tr h="75201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/>
                        <a:t>범주</a:t>
                      </a:r>
                      <a:endParaRPr lang="ko-KR" altLang="en-US" sz="1050" b="1" kern="0" spc="0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41624" marR="41624" marT="11508" marB="11508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b="1" kern="0" spc="0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41624" marR="41624" marT="11508" marB="11508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b="1" kern="0" spc="0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41624" marR="41624" marT="11508" marB="11508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b="1" kern="0" spc="0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41624" marR="41624" marT="11508" marB="11508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b="1" kern="0" spc="0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41624" marR="41624" marT="11508" marB="11508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b="1" kern="0" spc="0" dirty="0">
                        <a:solidFill>
                          <a:srgbClr val="000000"/>
                        </a:solidFill>
                        <a:latin typeface="+mj-ea"/>
                        <a:ea typeface="+mj-ea"/>
                      </a:endParaRPr>
                    </a:p>
                  </a:txBody>
                  <a:tcPr marL="41624" marR="41624" marT="11508" marB="1150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3831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지원 </a:t>
                      </a:r>
                      <a:r>
                        <a:rPr lang="en-US" altLang="ko-KR" sz="1100" b="1" kern="0" spc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OS</a:t>
                      </a:r>
                    </a:p>
                  </a:txBody>
                  <a:tcPr marL="41624" marR="41624" marT="11508" marB="11508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/>
                    </a:p>
                  </a:txBody>
                  <a:tcPr marL="41624" marR="41624" marT="11508" marB="11508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/>
                    </a:p>
                  </a:txBody>
                  <a:tcPr marL="41624" marR="41624" marT="11508" marB="11508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/>
                    </a:p>
                  </a:txBody>
                  <a:tcPr marL="41624" marR="41624" marT="11508" marB="11508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/>
                    </a:p>
                  </a:txBody>
                  <a:tcPr marL="41624" marR="41624" marT="11508" marB="11508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/>
                    </a:p>
                  </a:txBody>
                  <a:tcPr marL="41624" marR="41624" marT="11508" marB="1150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7966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데이터센터 위치</a:t>
                      </a:r>
                    </a:p>
                  </a:txBody>
                  <a:tcPr marL="41624" marR="41624" marT="11508" marB="11508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/>
                    </a:p>
                  </a:txBody>
                  <a:tcPr marL="41624" marR="41624" marT="11508" marB="11508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/>
                    </a:p>
                  </a:txBody>
                  <a:tcPr marL="41624" marR="41624" marT="11508" marB="11508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/>
                    </a:p>
                  </a:txBody>
                  <a:tcPr marL="41624" marR="41624" marT="11508" marB="11508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/>
                    </a:p>
                  </a:txBody>
                  <a:tcPr marL="41624" marR="41624" marT="11508" marB="11508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/>
                    </a:p>
                  </a:txBody>
                  <a:tcPr marL="41624" marR="41624" marT="11508" marB="1150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012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비용</a:t>
                      </a:r>
                    </a:p>
                  </a:txBody>
                  <a:tcPr marL="41624" marR="41624" marT="11508" marB="11508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/>
                    </a:p>
                  </a:txBody>
                  <a:tcPr marL="41624" marR="41624" marT="11508" marB="11508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/>
                    </a:p>
                  </a:txBody>
                  <a:tcPr marL="41624" marR="41624" marT="11508" marB="11508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/>
                    </a:p>
                  </a:txBody>
                  <a:tcPr marL="41624" marR="41624" marT="11508" marB="11508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/>
                    </a:p>
                  </a:txBody>
                  <a:tcPr marL="41624" marR="41624" marT="11508" marB="11508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/>
                    </a:p>
                  </a:txBody>
                  <a:tcPr marL="41624" marR="41624" marT="11508" marB="1150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472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지원</a:t>
                      </a:r>
                      <a:r>
                        <a:rPr lang="en-US" altLang="ko-KR" sz="1100" b="1" kern="0" spc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API</a:t>
                      </a:r>
                      <a:endParaRPr lang="ko-KR" altLang="en-US" sz="1100" b="1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41624" marR="41624" marT="11508" marB="11508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/>
                    </a:p>
                  </a:txBody>
                  <a:tcPr marL="41624" marR="41624" marT="11508" marB="11508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/>
                    </a:p>
                  </a:txBody>
                  <a:tcPr marL="41624" marR="41624" marT="11508" marB="11508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/>
                    </a:p>
                  </a:txBody>
                  <a:tcPr marL="41624" marR="41624" marT="11508" marB="11508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/>
                    </a:p>
                  </a:txBody>
                  <a:tcPr marL="41624" marR="41624" marT="11508" marB="11508" anchor="ctr"/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100" dirty="0"/>
                    </a:p>
                  </a:txBody>
                  <a:tcPr marL="41624" marR="41624" marT="11508" marB="1150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7164288" y="6546830"/>
            <a:ext cx="17281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</a:rPr>
              <a:t>MINHEEBLOG</a:t>
            </a:r>
            <a:endParaRPr lang="ko-KR" altLang="en-US" sz="16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7" name="_x189903544">
            <a:extLst>
              <a:ext uri="{FF2B5EF4-FFF2-40B4-BE49-F238E27FC236}">
                <a16:creationId xmlns:a16="http://schemas.microsoft.com/office/drawing/2014/main" id="{11A3C9A9-D0DE-4FAE-BAAD-6AB9970EF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209428" y="1791707"/>
            <a:ext cx="1244191" cy="527839"/>
          </a:xfrm>
          <a:prstGeom prst="rect">
            <a:avLst/>
          </a:prstGeom>
          <a:noFill/>
        </p:spPr>
      </p:pic>
      <p:pic>
        <p:nvPicPr>
          <p:cNvPr id="18" name="_x48549128">
            <a:extLst>
              <a:ext uri="{FF2B5EF4-FFF2-40B4-BE49-F238E27FC236}">
                <a16:creationId xmlns:a16="http://schemas.microsoft.com/office/drawing/2014/main" id="{558D7B35-1CB0-4A08-9C3A-7F6E2C0E6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673882" y="1766326"/>
            <a:ext cx="1244191" cy="653200"/>
          </a:xfrm>
          <a:prstGeom prst="rect">
            <a:avLst/>
          </a:prstGeom>
          <a:noFill/>
        </p:spPr>
      </p:pic>
      <p:pic>
        <p:nvPicPr>
          <p:cNvPr id="19" name="_x48549128">
            <a:extLst>
              <a:ext uri="{FF2B5EF4-FFF2-40B4-BE49-F238E27FC236}">
                <a16:creationId xmlns:a16="http://schemas.microsoft.com/office/drawing/2014/main" id="{7EF31820-271F-433F-A1B2-EF4068E1B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299707" y="1803067"/>
            <a:ext cx="1015176" cy="579719"/>
          </a:xfrm>
          <a:prstGeom prst="rect">
            <a:avLst/>
          </a:prstGeom>
          <a:noFill/>
        </p:spPr>
      </p:pic>
      <p:pic>
        <p:nvPicPr>
          <p:cNvPr id="20" name="_x48549128">
            <a:extLst>
              <a:ext uri="{FF2B5EF4-FFF2-40B4-BE49-F238E27FC236}">
                <a16:creationId xmlns:a16="http://schemas.microsoft.com/office/drawing/2014/main" id="{F22A9C34-F7BE-4E8C-9473-29C05BD49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368602" y="1692378"/>
            <a:ext cx="1146954" cy="708431"/>
          </a:xfrm>
          <a:prstGeom prst="rect">
            <a:avLst/>
          </a:prstGeom>
          <a:noFill/>
        </p:spPr>
      </p:pic>
      <p:pic>
        <p:nvPicPr>
          <p:cNvPr id="21" name="_x48549128">
            <a:extLst>
              <a:ext uri="{FF2B5EF4-FFF2-40B4-BE49-F238E27FC236}">
                <a16:creationId xmlns:a16="http://schemas.microsoft.com/office/drawing/2014/main" id="{5164459F-3266-4307-BC6A-F702E91AAF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762333" y="1754784"/>
            <a:ext cx="1069862" cy="6016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37033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>
          <a:xfrm>
            <a:off x="2551283" y="3284984"/>
            <a:ext cx="1368152" cy="1944216"/>
          </a:xfrm>
          <a:prstGeom prst="rect">
            <a:avLst/>
          </a:prstGeom>
          <a:solidFill>
            <a:schemeClr val="accent1">
              <a:lumMod val="60000"/>
              <a:lumOff val="4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3528" y="548680"/>
            <a:ext cx="4176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</a:rPr>
              <a:t>CONTENTS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16043" y="1772816"/>
            <a:ext cx="4144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solidFill>
                  <a:schemeClr val="accent1">
                    <a:lumMod val="60000"/>
                    <a:lumOff val="40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r>
              <a:rPr lang="en-US" altLang="ko-KR" sz="5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        02</a:t>
            </a:r>
            <a:endParaRPr lang="ko-KR" altLang="en-US" sz="5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2660059" y="2708920"/>
            <a:ext cx="115212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5256075" y="2708920"/>
            <a:ext cx="11521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548860" y="284364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서버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1283" y="3429000"/>
            <a:ext cx="13681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b="1" spc="-150" dirty="0"/>
              <a:t>뭐가 있을까</a:t>
            </a:r>
            <a:r>
              <a:rPr lang="en-US" altLang="ko-KR" sz="1200" b="1" spc="-150" dirty="0"/>
              <a:t>?</a:t>
            </a:r>
          </a:p>
          <a:p>
            <a:pPr marL="171450" indent="-171450">
              <a:buFontTx/>
              <a:buChar char="-"/>
            </a:pPr>
            <a:endParaRPr lang="en-US" altLang="ko-KR" sz="1200" b="1" spc="-150" dirty="0"/>
          </a:p>
          <a:p>
            <a:pPr marL="171450" indent="-171450">
              <a:buFontTx/>
              <a:buChar char="-"/>
            </a:pPr>
            <a:r>
              <a:rPr lang="ko-KR" altLang="en-US" sz="1200" b="1" spc="-150" dirty="0"/>
              <a:t>특징이 뭘까</a:t>
            </a:r>
            <a:r>
              <a:rPr lang="en-US" altLang="ko-KR" sz="1200" b="1" spc="-150" dirty="0"/>
              <a:t>?</a:t>
            </a:r>
          </a:p>
          <a:p>
            <a:pPr marL="171450" indent="-171450">
              <a:buFontTx/>
              <a:buChar char="-"/>
            </a:pPr>
            <a:endParaRPr lang="en-US" altLang="ko-KR" sz="1200" b="1" spc="-150" dirty="0"/>
          </a:p>
          <a:p>
            <a:pPr marL="171450" indent="-171450">
              <a:buFontTx/>
              <a:buChar char="-"/>
            </a:pPr>
            <a:r>
              <a:rPr lang="ko-KR" altLang="en-US" sz="1200" b="1" spc="-150" dirty="0"/>
              <a:t>비용은 얼마일까</a:t>
            </a:r>
            <a:r>
              <a:rPr lang="en-US" altLang="ko-KR" sz="1200" b="1" spc="-150" dirty="0"/>
              <a:t>?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5148064" y="3284984"/>
            <a:ext cx="1368152" cy="194421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48064" y="3429000"/>
            <a:ext cx="1368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b="1" spc="-150" dirty="0"/>
              <a:t>뭐가 있을까</a:t>
            </a:r>
            <a:r>
              <a:rPr lang="en-US" altLang="ko-KR" sz="1200" b="1" spc="-150" dirty="0"/>
              <a:t>?</a:t>
            </a:r>
          </a:p>
          <a:p>
            <a:pPr marL="171450" indent="-171450">
              <a:buFontTx/>
              <a:buChar char="-"/>
            </a:pPr>
            <a:endParaRPr lang="en-US" altLang="ko-KR" sz="1200" b="1" spc="-150" dirty="0"/>
          </a:p>
          <a:p>
            <a:pPr marL="171450" indent="-171450">
              <a:buFontTx/>
              <a:buChar char="-"/>
            </a:pPr>
            <a:r>
              <a:rPr lang="ko-KR" altLang="en-US" sz="1200" b="1" spc="-150" dirty="0"/>
              <a:t>특징이 뭘까</a:t>
            </a:r>
            <a:r>
              <a:rPr lang="en-US" altLang="ko-KR" sz="1200" b="1" spc="-150" dirty="0"/>
              <a:t>?</a:t>
            </a:r>
            <a:endParaRPr lang="ko-KR" altLang="en-US" sz="1200" b="1" spc="-150" dirty="0"/>
          </a:p>
        </p:txBody>
      </p:sp>
      <p:sp>
        <p:nvSpPr>
          <p:cNvPr id="28" name="TextBox 27"/>
          <p:cNvSpPr txBox="1"/>
          <p:nvPr/>
        </p:nvSpPr>
        <p:spPr>
          <a:xfrm>
            <a:off x="5004048" y="2843644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spc="-150" dirty="0">
                <a:solidFill>
                  <a:schemeClr val="bg1"/>
                </a:solidFill>
                <a:latin typeface="+mj-ea"/>
              </a:rPr>
              <a:t>데이터베이스</a:t>
            </a:r>
          </a:p>
        </p:txBody>
      </p:sp>
    </p:spTree>
    <p:extLst>
      <p:ext uri="{BB962C8B-B14F-4D97-AF65-F5344CB8AC3E}">
        <p14:creationId xmlns:p14="http://schemas.microsoft.com/office/powerpoint/2010/main" val="3141616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51520" y="620688"/>
            <a:ext cx="8640960" cy="5976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971600" y="2942942"/>
            <a:ext cx="7200800" cy="14941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971600" y="1196752"/>
            <a:ext cx="7200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bg1">
                    <a:lumMod val="7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“           ”</a:t>
            </a:r>
            <a:endParaRPr lang="ko-KR" altLang="en-US" sz="6000" dirty="0">
              <a:solidFill>
                <a:schemeClr val="bg1">
                  <a:lumMod val="75000"/>
                </a:schemeClr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02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31640" y="3449960"/>
            <a:ext cx="6624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/>
              <a:t>NoSQL ?</a:t>
            </a:r>
            <a:r>
              <a:rPr lang="en-US" altLang="ko-KR" dirty="0"/>
              <a:t> or </a:t>
            </a:r>
            <a:r>
              <a:rPr lang="en-US" altLang="ko-KR" sz="2400" b="1" dirty="0"/>
              <a:t>RDBMS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600" y="2062589"/>
            <a:ext cx="712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spc="-150" dirty="0"/>
              <a:t>뭐가 있을까</a:t>
            </a:r>
            <a:r>
              <a:rPr lang="en-US" altLang="ko-KR" b="1" spc="-150" dirty="0"/>
              <a:t>?</a:t>
            </a:r>
            <a:endParaRPr lang="ko-KR" altLang="en-US" spc="-150" dirty="0"/>
          </a:p>
        </p:txBody>
      </p:sp>
      <p:sp>
        <p:nvSpPr>
          <p:cNvPr id="12" name="TextBox 11"/>
          <p:cNvSpPr txBox="1"/>
          <p:nvPr/>
        </p:nvSpPr>
        <p:spPr>
          <a:xfrm>
            <a:off x="2411760" y="1268760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spc="-150" dirty="0">
                <a:solidFill>
                  <a:schemeClr val="tx2">
                    <a:lumMod val="75000"/>
                  </a:schemeClr>
                </a:solidFill>
                <a:latin typeface="+mj-lt"/>
                <a:ea typeface="HY헤드라인M" pitchFamily="18" charset="-127"/>
              </a:rPr>
              <a:t>데이터베이스</a:t>
            </a:r>
          </a:p>
        </p:txBody>
      </p:sp>
      <p:cxnSp>
        <p:nvCxnSpPr>
          <p:cNvPr id="14" name="직선 연결선 13"/>
          <p:cNvCxnSpPr/>
          <p:nvPr/>
        </p:nvCxnSpPr>
        <p:spPr>
          <a:xfrm>
            <a:off x="2123728" y="1916832"/>
            <a:ext cx="4824536" cy="0"/>
          </a:xfrm>
          <a:prstGeom prst="line">
            <a:avLst/>
          </a:prstGeom>
          <a:ln>
            <a:gradFill>
              <a:gsLst>
                <a:gs pos="0">
                  <a:schemeClr val="bg1"/>
                </a:gs>
                <a:gs pos="5000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10800000" scaled="0"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8" name="_x4854912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95936" y="4630894"/>
            <a:ext cx="1128483" cy="756084"/>
          </a:xfrm>
          <a:prstGeom prst="rect">
            <a:avLst/>
          </a:prstGeom>
          <a:noFill/>
        </p:spPr>
      </p:pic>
      <p:pic>
        <p:nvPicPr>
          <p:cNvPr id="19" name="_x4854912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888159" y="5783022"/>
            <a:ext cx="1180761" cy="886338"/>
          </a:xfrm>
          <a:prstGeom prst="rect">
            <a:avLst/>
          </a:prstGeom>
          <a:noFill/>
        </p:spPr>
      </p:pic>
      <p:pic>
        <p:nvPicPr>
          <p:cNvPr id="20" name="_x18990354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860305" y="4764452"/>
            <a:ext cx="1440160" cy="379842"/>
          </a:xfrm>
          <a:prstGeom prst="rect">
            <a:avLst/>
          </a:prstGeom>
          <a:noFill/>
        </p:spPr>
      </p:pic>
      <p:pic>
        <p:nvPicPr>
          <p:cNvPr id="24" name="_x48549128">
            <a:extLst>
              <a:ext uri="{FF2B5EF4-FFF2-40B4-BE49-F238E27FC236}">
                <a16:creationId xmlns:a16="http://schemas.microsoft.com/office/drawing/2014/main" id="{40973FBC-9944-4084-97B5-F14FE1B98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865479" y="6084246"/>
            <a:ext cx="1434986" cy="479262"/>
          </a:xfrm>
          <a:prstGeom prst="rect">
            <a:avLst/>
          </a:prstGeom>
          <a:noFill/>
        </p:spPr>
      </p:pic>
      <p:pic>
        <p:nvPicPr>
          <p:cNvPr id="25" name="_x48549128">
            <a:extLst>
              <a:ext uri="{FF2B5EF4-FFF2-40B4-BE49-F238E27FC236}">
                <a16:creationId xmlns:a16="http://schemas.microsoft.com/office/drawing/2014/main" id="{88FDB52F-5C36-4F7B-B84F-4251550A3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816151" y="4628189"/>
            <a:ext cx="1210542" cy="807028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0AC473-7933-4E3A-802A-FA57FD64AD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13170" y="5644640"/>
            <a:ext cx="901957" cy="109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240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51520" y="3068960"/>
            <a:ext cx="8640960" cy="3528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/>
          <p:cNvSpPr/>
          <p:nvPr/>
        </p:nvSpPr>
        <p:spPr>
          <a:xfrm>
            <a:off x="2627784" y="10527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364088" y="271681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ko-KR" altLang="en-US" sz="1200" dirty="0">
                <a:solidFill>
                  <a:schemeClr val="bg1"/>
                </a:solidFill>
              </a:rPr>
              <a:t>과목이름이나 영문타이틀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9792" y="2564904"/>
            <a:ext cx="38164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b="1" dirty="0">
                <a:solidFill>
                  <a:schemeClr val="bg1"/>
                </a:solidFill>
              </a:rPr>
              <a:t>THANK</a:t>
            </a:r>
          </a:p>
          <a:p>
            <a:pPr algn="ctr"/>
            <a:r>
              <a:rPr lang="en-US" altLang="ko-KR" sz="5400" b="1" dirty="0">
                <a:solidFill>
                  <a:schemeClr val="bg1"/>
                </a:solidFill>
              </a:rPr>
              <a:t>YOU</a:t>
            </a:r>
            <a:endParaRPr lang="ko-KR" altLang="en-US" sz="54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03848" y="5178678"/>
            <a:ext cx="27363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ko-KR" altLang="en-US" sz="1600" b="1" dirty="0">
                <a:solidFill>
                  <a:schemeClr val="tx2">
                    <a:lumMod val="50000"/>
                  </a:schemeClr>
                </a:solidFill>
              </a:rPr>
              <a:t>발표자 강 준 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1111</TotalTime>
  <Words>175</Words>
  <Application>Microsoft Office PowerPoint</Application>
  <PresentationFormat>On-screen Show (4:3)</PresentationFormat>
  <Paragraphs>63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HY헤드라인M</vt:lpstr>
      <vt:lpstr>맑은 고딕</vt:lpstr>
      <vt:lpstr>Arial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minhee park</dc:creator>
  <cp:lastModifiedBy>Kang JunSung</cp:lastModifiedBy>
  <cp:revision>26</cp:revision>
  <dcterms:created xsi:type="dcterms:W3CDTF">2016-11-03T20:47:04Z</dcterms:created>
  <dcterms:modified xsi:type="dcterms:W3CDTF">2021-05-31T13:30:25Z</dcterms:modified>
</cp:coreProperties>
</file>